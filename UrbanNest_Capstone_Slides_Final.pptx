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91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65A82"/>
                </a:solidFill>
                <a:latin typeface="Arial"/>
              </a:rPr>
              <a:t>Booking Volume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4400</c:v>
                </c:pt>
                <c:pt idx="1">
                  <c:v>5800</c:v>
                </c:pt>
                <c:pt idx="2">
                  <c:v>7100</c:v>
                </c:pt>
                <c:pt idx="3">
                  <c:v>7550</c:v>
                </c:pt>
                <c:pt idx="4">
                  <c:v>7550</c:v>
                </c:pt>
                <c:pt idx="5">
                  <c:v>6800</c:v>
                </c:pt>
                <c:pt idx="6">
                  <c:v>8450</c:v>
                </c:pt>
                <c:pt idx="7">
                  <c:v>8900</c:v>
                </c:pt>
                <c:pt idx="8">
                  <c:v>5850</c:v>
                </c:pt>
                <c:pt idx="9">
                  <c:v>6350</c:v>
                </c:pt>
                <c:pt idx="10">
                  <c:v>4650</c:v>
                </c:pt>
                <c:pt idx="11">
                  <c:v>4650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2D-4989-9858-2E50F4C003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65A82"/>
                </a:solidFill>
                <a:latin typeface="Arial"/>
              </a:rPr>
              <a:t>Cancellation Rate by Market Segment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%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Complementary</c:v>
                </c:pt>
                <c:pt idx="1">
                  <c:v>Corporate</c:v>
                </c:pt>
                <c:pt idx="2">
                  <c:v>Direct</c:v>
                </c:pt>
                <c:pt idx="3">
                  <c:v>Offline TA/TO</c:v>
                </c:pt>
                <c:pt idx="4">
                  <c:v>Aviation</c:v>
                </c:pt>
                <c:pt idx="5">
                  <c:v>Groups</c:v>
                </c:pt>
                <c:pt idx="6">
                  <c:v>Online TA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8.5</c:v>
                </c:pt>
                <c:pt idx="1">
                  <c:v>12</c:v>
                </c:pt>
                <c:pt idx="2">
                  <c:v>13.9</c:v>
                </c:pt>
                <c:pt idx="3">
                  <c:v>14.6</c:v>
                </c:pt>
                <c:pt idx="4">
                  <c:v>20.9</c:v>
                </c:pt>
                <c:pt idx="5">
                  <c:v>25.4</c:v>
                </c:pt>
                <c:pt idx="6">
                  <c:v>34.200000000000003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DD-4B05-A53F-90B8C50848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65A82"/>
                </a:solidFill>
                <a:latin typeface="Arial"/>
              </a:rPr>
              <a:t>Average Revenue by Customer Type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42-4800-9626-9D42D58E2380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42-4800-9626-9D42D58E2380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42-4800-9626-9D42D58E2380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F42-4800-9626-9D42D58E23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Group</c:v>
                </c:pt>
                <c:pt idx="1">
                  <c:v>Transient-Party</c:v>
                </c:pt>
                <c:pt idx="2">
                  <c:v>Transient</c:v>
                </c:pt>
                <c:pt idx="3">
                  <c:v>Contract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223</c:v>
                </c:pt>
                <c:pt idx="1">
                  <c:v>277</c:v>
                </c:pt>
                <c:pt idx="2">
                  <c:v>359</c:v>
                </c:pt>
                <c:pt idx="3">
                  <c:v>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F42-4800-9626-9D42D58E23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65A82"/>
                </a:solidFill>
                <a:latin typeface="Arial"/>
              </a:rPr>
              <a:t>Avg Revenue by Special Requests ($)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($)</c:v>
                </c:pt>
              </c:strCache>
            </c:strRef>
          </c:tx>
          <c:spPr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365</c:v>
                </c:pt>
                <c:pt idx="2">
                  <c:v>400</c:v>
                </c:pt>
                <c:pt idx="3">
                  <c:v>445</c:v>
                </c:pt>
                <c:pt idx="4">
                  <c:v>495</c:v>
                </c:pt>
                <c:pt idx="5">
                  <c:v>510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7D1-415E-9BE1-46B8548290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31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Engagement for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UrbanNest Hospitality Analytics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548640"/>
            <a:ext cx="246888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0" y="777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77,678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0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Bookings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2015–2017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084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999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R²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$86.63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3913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Error (MAE)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Analyst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UrbanNest Hospitality Analytics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6400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Oluwaseyi Franklyn Odunlade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841248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6400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03911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03911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ACIB | AltSchool Africa | GitHub Copilot Certified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2752344"/>
            <a:ext cx="841248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75234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Professional | ACIB | Data Scientist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841248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465576"/>
            <a:ext cx="6400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4655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46557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Forward | TechCrush Data Science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841248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78808"/>
            <a:ext cx="6400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17880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17880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seyiodunlade1@gmail.com  |  github.com/seyiodunlade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1338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1338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hotel revenue prediction matters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73552" y="11338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1338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Cleaning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 raw bookings → 77,678 clean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8192" y="11338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1338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Seasonality, cancellations, and revenue patterns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17320" y="2926080"/>
            <a:ext cx="2651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90472" y="29626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74520" y="29626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Linear Regression — R² 0.78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5196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51960" y="2926080"/>
            <a:ext cx="26517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25112" y="29626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29626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4340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for UrbanNest clients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rely on guesswork for revenue decisions —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to missed opportunities and pricing mistakes.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2743200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in place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743200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743200" cy="7315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and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gaps cost revenue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743200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booking revenue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key features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Cleaning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554480" cy="11887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loaded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0" y="868680"/>
            <a:ext cx="155448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86868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31,933 dropped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188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49040" y="868680"/>
            <a:ext cx="155448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86868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nights &amp; ghost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1188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0" y="868680"/>
            <a:ext cx="155448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86868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188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23760" y="868680"/>
            <a:ext cx="1554480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0" y="86868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77,678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analysis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Decisions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(94.3% null)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(13.7% null)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direct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ADR rows (1,959)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Complimentary stays — no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× total nights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Seasonality &amp; Booking Patterns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686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6012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0" y="960120"/>
            <a:ext cx="73152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0332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80760" y="13441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Jul–Aug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8,500–8,900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bookings/month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33172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0" y="2331720"/>
            <a:ext cx="73152" cy="11887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24048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Season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0760" y="27157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&amp; Nov–Dec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4,400–4,700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bookings/month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370332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43600" y="3703320"/>
            <a:ext cx="7315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80760" y="37764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Only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80760" y="40873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year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dataset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months generate 2x more bookings than winter months — seasonal pricing strategy is critical.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Cancellation Risk Analysis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229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822960"/>
            <a:ext cx="2834640" cy="34061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3504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35040" y="13258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35040" y="1664208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2057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35040" y="2395728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when room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upgraded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788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+26pp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035040" y="3127248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changes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3520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35040" y="3858768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lead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(181–300 days)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upgrades are the single most effective cancellation prevention strategy — cutting cancellations from 31.6% to 4.8%.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Revenue Insights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2296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365760" y="3611880"/>
          <a:ext cx="512064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5760720" y="86868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60720" y="86868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897880" y="10058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customers generate 83% more revenue than Group customers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760720" y="228600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760720" y="2286000"/>
            <a:ext cx="73152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897880" y="242316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special request adds ~$38 avg revenue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760720" y="370332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60720" y="3703320"/>
            <a:ext cx="73152" cy="12344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897880" y="384048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TA: highest volume AND highest revenue — but highest cancellation risk too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Linear Regression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6002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 features)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600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29968" y="1325880"/>
            <a:ext cx="16002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29968" y="13258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30168" y="1600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85616" y="1325880"/>
            <a:ext cx="160020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85616" y="13258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85816" y="1600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41264" y="1325880"/>
            <a:ext cx="1600200" cy="10058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41264" y="13258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1464" y="1600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96912" y="1325880"/>
            <a:ext cx="160020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96912" y="13258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9077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29077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29077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29077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0.7747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Improved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721608"/>
            <a:ext cx="8412480" cy="4572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721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560320" y="3721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3721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$86.63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0" y="3721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Improved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197096"/>
            <a:ext cx="8412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1970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60320" y="41970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$127.51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41970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$124.74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66560" y="41970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Improved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optimised Linear Regression model delivers reliable revenue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with an R² of 0.78 and MAE of $86.63 per booking.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1148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205740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Duration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423160"/>
            <a:ext cx="3895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nights stayed is the #1 predictor of booking revenue (r = 0.70)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41148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4114800" cy="7315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205740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2423160"/>
            <a:ext cx="3895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upgrades cut cancellations from 31.6% to 4.8% — a 26pp reduction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1148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114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47472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Customer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840480"/>
            <a:ext cx="3895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customers: highest revenue ($409) + lowest cancellation (17%)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337560"/>
            <a:ext cx="41148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41148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347472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3840480"/>
            <a:ext cx="3895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R² = 0.87 — recommended for production 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Oluwaseyi Franklyn Odunlade  |  UrbanNest Hospitality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UrbanNest Hospitality Analytics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3444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00200"/>
            <a:ext cx="3986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increasing stay duration — the #1 revenue driver (r = 0.70)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length-of-stay incentives (e.g. discounted weekly rates)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Contract customers via direct channels — highest value + lowest risk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206240" cy="3474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0328" y="123444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600200"/>
            <a:ext cx="3986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proactive room upgrades — reduces cancellations from 31.6% to 4.8%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deposit policies for lead times &gt; 90 days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campaigns for Online TA Transient bookings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206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06324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429000"/>
            <a:ext cx="3986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direct bookings — no commission, $336 avg revenue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corporate contract pipeline — $409 avg + 17% cancellation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over-reliance on Online TA (60%+ of volume)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206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0328" y="306324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Pricing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3429000"/>
            <a:ext cx="3986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in Jul–Aug peak season to maximise ADR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Off-season promotions for Nov–Feb to sustain occupancy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Group/corporate focus in shoulder seasons (Mar–Jun, Sep–Oct)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719</Words>
  <Application>Microsoft Office PowerPoint</Application>
  <PresentationFormat>On-screen Show (16:9)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UrbanNest Hospitality Analytics</dc:title>
  <dc:subject>PptxGenJS Presentation</dc:subject>
  <dc:creator>Group 3</dc:creator>
  <cp:lastModifiedBy>Oluwaseyi Odunlade</cp:lastModifiedBy>
  <cp:revision>3</cp:revision>
  <dcterms:created xsi:type="dcterms:W3CDTF">2026-06-07T00:35:44Z</dcterms:created>
  <dcterms:modified xsi:type="dcterms:W3CDTF">2026-06-12T18:49:22Z</dcterms:modified>
</cp:coreProperties>
</file>